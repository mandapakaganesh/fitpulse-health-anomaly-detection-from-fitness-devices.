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74" r:id="rId12"/>
    <p:sldId id="265" r:id="rId13"/>
    <p:sldId id="266" r:id="rId14"/>
    <p:sldId id="267" r:id="rId15"/>
    <p:sldId id="268" r:id="rId16"/>
    <p:sldId id="269" r:id="rId17"/>
    <p:sldId id="275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B29900-79C9-497F-A920-3405A486F8D8}" v="2" dt="2026-03-27T17:07:35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h Mandapaka" userId="71967d404b3849dd" providerId="LiveId" clId="{5C0E55B8-BD53-40E0-A51A-C7602B20947D}"/>
    <pc:docChg chg="addSld modSld sldOrd">
      <pc:chgData name="Ganesh Mandapaka" userId="71967d404b3849dd" providerId="LiveId" clId="{5C0E55B8-BD53-40E0-A51A-C7602B20947D}" dt="2026-03-27T17:07:35.555" v="31"/>
      <pc:docMkLst>
        <pc:docMk/>
      </pc:docMkLst>
      <pc:sldChg chg="addSp modSp new mod ord setBg">
        <pc:chgData name="Ganesh Mandapaka" userId="71967d404b3849dd" providerId="LiveId" clId="{5C0E55B8-BD53-40E0-A51A-C7602B20947D}" dt="2026-03-27T17:07:00.358" v="29"/>
        <pc:sldMkLst>
          <pc:docMk/>
          <pc:sldMk cId="3393205495" sldId="274"/>
        </pc:sldMkLst>
        <pc:picChg chg="add mod">
          <ac:chgData name="Ganesh Mandapaka" userId="71967d404b3849dd" providerId="LiveId" clId="{5C0E55B8-BD53-40E0-A51A-C7602B20947D}" dt="2026-03-27T17:05:31.540" v="18" actId="14100"/>
          <ac:picMkLst>
            <pc:docMk/>
            <pc:sldMk cId="3393205495" sldId="274"/>
            <ac:picMk id="3" creationId="{9CA0DFB3-552E-542E-E313-66DDF8151B47}"/>
          </ac:picMkLst>
        </pc:picChg>
        <pc:picChg chg="add mod">
          <ac:chgData name="Ganesh Mandapaka" userId="71967d404b3849dd" providerId="LiveId" clId="{5C0E55B8-BD53-40E0-A51A-C7602B20947D}" dt="2026-03-27T17:05:37.490" v="19" actId="14100"/>
          <ac:picMkLst>
            <pc:docMk/>
            <pc:sldMk cId="3393205495" sldId="274"/>
            <ac:picMk id="5" creationId="{8446113A-0CD5-D851-AF57-9DABC397B0D7}"/>
          </ac:picMkLst>
        </pc:picChg>
        <pc:picChg chg="add mod">
          <ac:chgData name="Ganesh Mandapaka" userId="71967d404b3849dd" providerId="LiveId" clId="{5C0E55B8-BD53-40E0-A51A-C7602B20947D}" dt="2026-03-27T17:06:32.976" v="27" actId="14100"/>
          <ac:picMkLst>
            <pc:docMk/>
            <pc:sldMk cId="3393205495" sldId="274"/>
            <ac:picMk id="7" creationId="{0BA91B2B-F67B-0813-D8EC-FF396F1BE6B2}"/>
          </ac:picMkLst>
        </pc:picChg>
      </pc:sldChg>
      <pc:sldChg chg="new setBg">
        <pc:chgData name="Ganesh Mandapaka" userId="71967d404b3849dd" providerId="LiveId" clId="{5C0E55B8-BD53-40E0-A51A-C7602B20947D}" dt="2026-03-27T17:07:35.555" v="31"/>
        <pc:sldMkLst>
          <pc:docMk/>
          <pc:sldMk cId="2773965202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What is FitPulse Analytics?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 full-stack Streamlit dashboard that takes raw Fitbit CSV data through a complete ML pipeline — from cleaning to clustering.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1247120" cy="18288"/>
          </a:xfrm>
          <a:prstGeom prst="rect">
            <a:avLst/>
          </a:prstGeom>
          <a:solidFill>
            <a:srgbClr val="1E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204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975104"/>
            <a:ext cx="3520440" cy="438912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06654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8BDF8"/>
                </a:solidFill>
              </a:rP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Data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060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Upload CSV or Excel files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Auto-detect column types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Date parsing &amp; validation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Multi-user fitness records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Smart null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920240"/>
            <a:ext cx="352044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975104"/>
            <a:ext cx="3520440" cy="438912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1" y="206654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</a:rPr>
              <a:t>⚗️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ML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26060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Linear interpolation per user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Forward / backward fill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Categorical value repair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Data quality report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Downloadable clean 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920240"/>
            <a:ext cx="352044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1975104"/>
            <a:ext cx="3520440" cy="438912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1" y="206654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4D399"/>
                </a:solidFill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EDA &amp;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26060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Correlation heatmaps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Distribution charts + KDE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Outlier detection (IQR)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Heart-rate time-series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</a:rPr>
              <a:t>  •  Workout-type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Tech Stack &amp; Pipeline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45720" cy="11338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35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Frontend &amp;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09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Streamlit (multi-page)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025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Custom CSS  / dark 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Plotly / Matplotlib / Seaborn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52344"/>
            <a:ext cx="45720" cy="14264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Data &amp;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Pandas,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375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Scikit-learn (K-Means, PCA, DBSCAN)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01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TSFresh (time-series 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2277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Prophet (30-day forecasting)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79976"/>
            <a:ext cx="45720" cy="14264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3982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Data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725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CSV / Excel file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65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Fitbit dailyActivity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hourlySteps &amp; minuteSleep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50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 Heartrate_1min sensor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417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PIPELINE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783080"/>
            <a:ext cx="347472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82880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814"/>
                </a:solidFill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810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Upload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002536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CSV or Excel → pandas DataFrame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3408" y="2368296"/>
            <a:ext cx="18288" cy="10972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92240" y="2441448"/>
            <a:ext cx="34747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48716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814"/>
                </a:solidFill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46887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Preprocess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60904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Null handling, type fix, interpolation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93408" y="3026663"/>
            <a:ext cx="18288" cy="10972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3099815"/>
            <a:ext cx="34747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3145535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814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127247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EDA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319272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Distributions, heatmaps, trends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93408" y="3685031"/>
            <a:ext cx="18288" cy="10972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92240" y="3758183"/>
            <a:ext cx="347472" cy="34747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3803903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814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78561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TSFresh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977639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Extract 10 statistical features per user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93408" y="4343399"/>
            <a:ext cx="18288" cy="10972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4416551"/>
            <a:ext cx="347472" cy="34747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4462271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814"/>
                </a:solidFill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443983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Prophet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636007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30-day forecast — HR, Steps, Sleep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93408" y="5001767"/>
            <a:ext cx="18288" cy="10972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92240" y="5074919"/>
            <a:ext cx="347472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5120639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814"/>
                </a:solidFill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0235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Cluster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5294375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K-Means + DBSCAN + PCA visualisation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206240"/>
            <a:ext cx="45720" cy="566928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42245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C8181"/>
                </a:solidFill>
              </a:rPr>
              <a:t>Anomaly Detection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44988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  ›  Plotly (interactive anomaly charts)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93408" y="5660136"/>
            <a:ext cx="18288" cy="10972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92240" y="5733288"/>
            <a:ext cx="347472" cy="347472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92240" y="57790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0814"/>
                </a:solidFill>
              </a:rPr>
              <a:t>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5760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2E8F0"/>
                </a:solidFill>
              </a:rPr>
              <a:t>Anomaly Detect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59527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3-method: Threshold · Residual · DBSCAN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07024" y="274320"/>
            <a:ext cx="36576" cy="6309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377440" cy="320040"/>
          </a:xfrm>
          <a:prstGeom prst="rect">
            <a:avLst/>
          </a:prstGeom>
          <a:solidFill>
            <a:srgbClr val="0D2840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795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⚡  FITNESS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2E8F0"/>
                </a:solidFill>
              </a:rPr>
              <a:t>FitPulse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38BDF8"/>
                </a:solidFill>
              </a:rPr>
              <a:t>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Transform raw fitness data into
actionable insights.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34840"/>
            <a:ext cx="1463040" cy="347472"/>
          </a:xfrm>
          <a:prstGeom prst="rect">
            <a:avLst/>
          </a:prstGeom>
          <a:solidFill>
            <a:srgbClr val="0C1C30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446227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</a:rPr>
              <a:t>⚡ Smart Preprocessing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4434840"/>
            <a:ext cx="1463040" cy="347472"/>
          </a:xfrm>
          <a:prstGeom prst="rect">
            <a:avLst/>
          </a:prstGeom>
          <a:solidFill>
            <a:srgbClr val="0C1C30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76272" y="446227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</a:rPr>
              <a:t>📊 Visual EDA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434840"/>
            <a:ext cx="1463040" cy="347472"/>
          </a:xfrm>
          <a:prstGeom prst="rect">
            <a:avLst/>
          </a:prstGeom>
          <a:solidFill>
            <a:srgbClr val="0C1C30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0752" y="446227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</a:rPr>
              <a:t>🔬 ML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MILESTONE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54864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2784" y="1097280"/>
            <a:ext cx="5394960" cy="118872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1170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MILESTONE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3898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</a:rPr>
              <a:t>EDA &amp;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Upload CSV fitness data, clean nulls via interpolation,
explore distributions, correlations &amp; heart-rate trends.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514600"/>
            <a:ext cx="54864" cy="1188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72784" y="2514600"/>
            <a:ext cx="5394960" cy="118872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587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MILESTONE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8072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</a:rPr>
              <a:t>ML Intelligence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TSFresh feature extraction, Prophet forecasting (30-day)
&amp; K-Means / DBSCAN user clustering &amp; segmentation.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1605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DATASET AT A GLANCE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462272"/>
            <a:ext cx="1325880" cy="658368"/>
          </a:xfrm>
          <a:prstGeom prst="rect">
            <a:avLst/>
          </a:prstGeom>
          <a:solidFill>
            <a:srgbClr val="0A1428"/>
          </a:solidFill>
          <a:ln w="635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59" y="44805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800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Users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44383" y="4462272"/>
            <a:ext cx="1325880" cy="658368"/>
          </a:xfrm>
          <a:prstGeom prst="rect">
            <a:avLst/>
          </a:prstGeom>
          <a:solidFill>
            <a:srgbClr val="0A1428"/>
          </a:solidFill>
          <a:ln w="635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35823" y="44805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5823" y="4800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70848" y="4462272"/>
            <a:ext cx="1325880" cy="658368"/>
          </a:xfrm>
          <a:prstGeom prst="rect">
            <a:avLst/>
          </a:prstGeom>
          <a:solidFill>
            <a:srgbClr val="0A1428"/>
          </a:solidFill>
          <a:ln w="635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62288" y="44805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4800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Data Streams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97312" y="4462272"/>
            <a:ext cx="1325880" cy="658368"/>
          </a:xfrm>
          <a:prstGeom prst="rect">
            <a:avLst/>
          </a:prstGeom>
          <a:solidFill>
            <a:srgbClr val="0A1428"/>
          </a:solidFill>
          <a:ln w="635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88752" y="44805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127K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88752" y="4800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HR Records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0" y="6583680"/>
            <a:ext cx="121916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83E"/>
                </a:solidFill>
              </a:rPr>
              <a:t>FitPulse Analytics  ·  v1.0  ·  Built with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0E203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Data Preprocessing
&amp; Exploratory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Upload CSV fitness data → Clean nulls via interpolation → Explore
distributions, correlations, heart-rate trends and workout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886200"/>
            <a:ext cx="4572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4069080"/>
            <a:ext cx="1828800" cy="438912"/>
          </a:xfrm>
          <a:prstGeom prst="rect">
            <a:avLst/>
          </a:prstGeom>
          <a:solidFill>
            <a:srgbClr val="081428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5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</a:rPr>
              <a:t>⚗️  Preprocessing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39" y="4069080"/>
            <a:ext cx="1828800" cy="438912"/>
          </a:xfrm>
          <a:prstGeom prst="rect">
            <a:avLst/>
          </a:prstGeom>
          <a:solidFill>
            <a:srgbClr val="081428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9125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📊  EDA &amp; Charts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069080"/>
            <a:ext cx="1828800" cy="438912"/>
          </a:xfrm>
          <a:prstGeom prst="rect">
            <a:avLst/>
          </a:prstGeom>
          <a:solidFill>
            <a:srgbClr val="081428"/>
          </a:solidFill>
          <a:ln w="63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5721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</a:rPr>
              <a:t>❤️  Heart-Rate Trends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4069080"/>
            <a:ext cx="1828800" cy="438912"/>
          </a:xfrm>
          <a:prstGeom prst="rect">
            <a:avLst/>
          </a:prstGeom>
          <a:solidFill>
            <a:srgbClr val="081428"/>
          </a:solidFill>
          <a:ln w="63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2317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📈  Distributions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069080"/>
            <a:ext cx="1828800" cy="438912"/>
          </a:xfrm>
          <a:prstGeom prst="rect">
            <a:avLst/>
          </a:prstGeom>
          <a:solidFill>
            <a:srgbClr val="0814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913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8BFA"/>
                </a:solidFill>
              </a:rPr>
              <a:t>📦  Outlier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371600"/>
            <a:ext cx="457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E42"/>
                </a:solidFill>
              </a:rPr>
              <a:t>M I L E S T O N E   O N 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736592"/>
            <a:ext cx="1371600" cy="658368"/>
          </a:xfrm>
          <a:prstGeom prst="rect">
            <a:avLst/>
          </a:prstGeom>
          <a:solidFill>
            <a:srgbClr val="08182E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Slides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4736592"/>
            <a:ext cx="1371600" cy="658368"/>
          </a:xfrm>
          <a:prstGeom prst="rect">
            <a:avLst/>
          </a:prstGeom>
          <a:solidFill>
            <a:srgbClr val="08182E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06040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EDA Charts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736592"/>
            <a:ext cx="1371600" cy="658368"/>
          </a:xfrm>
          <a:prstGeom prst="rect">
            <a:avLst/>
          </a:prstGeom>
          <a:solidFill>
            <a:srgbClr val="08182E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Clean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MILESTONE 1  · 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Data Cleaning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User-wise imputation, datetime parsing and quality reporting — producing a clean, analysis-ready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45720" cy="3840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2121408" cy="384048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1920240"/>
            <a:ext cx="384048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9476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0814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568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Date 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414016"/>
            <a:ext cx="1920240" cy="292608"/>
          </a:xfrm>
          <a:prstGeom prst="rect">
            <a:avLst/>
          </a:prstGeom>
          <a:solidFill>
            <a:srgbClr val="050E20"/>
          </a:solidFill>
          <a:ln w="50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44144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</a:rPr>
              <a:t>pd.to_datetime with coercion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Ensures all dates are parseable. Invalid dates are NaT, not crash-inducing errors.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1828800"/>
            <a:ext cx="45720" cy="3840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199" y="1828800"/>
            <a:ext cx="2121408" cy="384048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62072" y="1920240"/>
            <a:ext cx="384048" cy="3840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2072" y="19476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0814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19568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Sort by User+Date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7208" y="2414016"/>
            <a:ext cx="1920240" cy="292608"/>
          </a:xfrm>
          <a:prstGeom prst="rect">
            <a:avLst/>
          </a:prstGeom>
          <a:solidFill>
            <a:srgbClr val="050E20"/>
          </a:solidFill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62072" y="244144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</a:rPr>
              <a:t>df.sort_values(['User_ID','Date'])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Groups time-series records correctly before interpolation is applied.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828800"/>
            <a:ext cx="45720" cy="3840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74920" y="1828800"/>
            <a:ext cx="2121408" cy="384048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93792" y="1920240"/>
            <a:ext cx="384048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93792" y="19476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0814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9568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Linear Interpolation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8928" y="2414016"/>
            <a:ext cx="1920240" cy="292608"/>
          </a:xfrm>
          <a:prstGeom prst="rect">
            <a:avLst/>
          </a:prstGeom>
          <a:solidFill>
            <a:srgbClr val="050E20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93792" y="244144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4D399"/>
                </a:solidFill>
              </a:rPr>
              <a:t>groupby User_ID → interpolate()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Fills interior null values using per-user linear interpolation for accuracy.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1828800"/>
            <a:ext cx="45720" cy="38404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06640" y="1828800"/>
            <a:ext cx="2121408" cy="384048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25512" y="1920240"/>
            <a:ext cx="384048" cy="384048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25512" y="19476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0814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19568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Boundary Fill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0648" y="2414016"/>
            <a:ext cx="1920240" cy="292608"/>
          </a:xfrm>
          <a:prstGeom prst="rect">
            <a:avLst/>
          </a:prstGeom>
          <a:solidFill>
            <a:srgbClr val="050E20"/>
          </a:solidFill>
          <a:ln w="508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25512" y="244144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ACC15"/>
                </a:solidFill>
              </a:rPr>
              <a:t>ffill().bfill() per 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Handles leading/trailing nulls that interpolation cannot reach.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1828800"/>
            <a:ext cx="45720" cy="38404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738360" y="1828800"/>
            <a:ext cx="2121408" cy="3840480"/>
          </a:xfrm>
          <a:prstGeom prst="rect">
            <a:avLst/>
          </a:prstGeom>
          <a:solidFill>
            <a:srgbClr val="0C1528"/>
          </a:solidFill>
          <a:ln w="9525"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57232" y="1920240"/>
            <a:ext cx="384048" cy="38404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57232" y="19476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0814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19568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Categorical Repair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02368" y="2414016"/>
            <a:ext cx="1920240" cy="292608"/>
          </a:xfrm>
          <a:prstGeom prst="rect">
            <a:avLst/>
          </a:prstGeom>
          <a:solidFill>
            <a:srgbClr val="050E20"/>
          </a:solidFill>
          <a:ln w="50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57232" y="244144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72B6"/>
                </a:solidFill>
              </a:rPr>
              <a:t>fillna('No Workout')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2368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Ensures Workout_Type has no NaN — replaced with descriptive fallback.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742432"/>
            <a:ext cx="11430000" cy="804672"/>
          </a:xfrm>
          <a:prstGeom prst="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5760" y="5742432"/>
            <a:ext cx="1143000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5806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DATA QUALITY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Preserved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309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Original Rows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Per-user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37560" y="6309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Nulls Fixed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</a:rPr>
              <a:t>Post-clean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6309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Remaining Nulls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Clean CSV 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6309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Download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2B6"/>
                </a:solidFill>
              </a:rPr>
              <a:t>MILESTONE 1  · 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</a:rPr>
              <a:t>Six interactive chart sections — each with per-chart tooltips explaining objectives and what to look for.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61188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45720" cy="21488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72B6"/>
                </a:solidFill>
              </a:rPr>
              <a:t>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75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Correlation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Seaborn heatmap of Pearson coefficients
between all 6 numeric features.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3337560" cy="658368"/>
          </a:xfrm>
          <a:prstGeom prst="rect">
            <a:avLst/>
          </a:prstGeom>
          <a:solidFill>
            <a:srgbClr val="061020"/>
          </a:solidFill>
          <a:ln w="50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2186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2B6"/>
                </a:solidFill>
              </a:rPr>
              <a:t>💡 Detects collinear features before modelling.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28800"/>
            <a:ext cx="361188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828800"/>
            <a:ext cx="45720" cy="2148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938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BDF8"/>
                </a:solidFill>
              </a:rP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975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Distributions + KDE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Histogram + kernel density for each
numeric column (per-user filtered).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154680"/>
            <a:ext cx="3337560" cy="658368"/>
          </a:xfrm>
          <a:prstGeom prst="rect">
            <a:avLst/>
          </a:prstGeom>
          <a:solidFill>
            <a:srgbClr val="061020"/>
          </a:solidFill>
          <a:ln w="50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408" y="32186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</a:rPr>
              <a:t>💡 Reveals skew, bimodality, normal fit.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361188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45720" cy="2148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1938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78BFA"/>
                </a:solidFill>
              </a:rP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975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Outlier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3774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Boxplots per feature with IQR whiskers.
Outlier dots highlighted in pink.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3154680"/>
            <a:ext cx="3337560" cy="658368"/>
          </a:xfrm>
          <a:prstGeom prst="rect">
            <a:avLst/>
          </a:prstGeom>
          <a:solidFill>
            <a:srgbClr val="061020"/>
          </a:solidFill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32186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</a:rPr>
              <a:t>💡 Identifies anomalies to investigate.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97680"/>
            <a:ext cx="361188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297680"/>
            <a:ext cx="45720" cy="21488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407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ACC15"/>
                </a:solidFill>
              </a:rPr>
              <a:t>🏋️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4439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Workout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463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Pie chart (% split) + bar chart
(absolute session counts) by type.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623560"/>
            <a:ext cx="3337560" cy="658368"/>
          </a:xfrm>
          <a:prstGeom prst="rect">
            <a:avLst/>
          </a:prstGeom>
          <a:solidFill>
            <a:srgbClr val="061020"/>
          </a:solidFill>
          <a:ln w="508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56875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ACC15"/>
                </a:solidFill>
              </a:rPr>
              <a:t>💡 Exposes class imbalance in workouts.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297680"/>
            <a:ext cx="361188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06240" y="4297680"/>
            <a:ext cx="45720" cy="2148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4407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4D399"/>
                </a:solidFill>
              </a:rPr>
              <a:t>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4439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User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48463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Per-user average table across all
6 numeric metrics — sortable.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5623560"/>
            <a:ext cx="3337560" cy="658368"/>
          </a:xfrm>
          <a:prstGeom prst="rect">
            <a:avLst/>
          </a:prstGeom>
          <a:solidFill>
            <a:srgbClr val="061020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07408" y="56875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</a:rPr>
              <a:t>💡 Compares user fitness levels at a glance.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297680"/>
            <a:ext cx="361188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46720" y="4297680"/>
            <a:ext cx="45720" cy="21488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0" y="4407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72B6"/>
                </a:solidFill>
              </a:rPr>
              <a:t>❤️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4439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Heart Rate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48463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Time-series BPM with 3-pt rolling avg,
peak/low annotations per sample user.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80" y="5623560"/>
            <a:ext cx="3337560" cy="658368"/>
          </a:xfrm>
          <a:prstGeom prst="rect">
            <a:avLst/>
          </a:prstGeom>
          <a:solidFill>
            <a:srgbClr val="061020"/>
          </a:solidFill>
          <a:ln w="50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47888" y="56875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2B6"/>
                </a:solidFill>
              </a:rPr>
              <a:t>💡 Tracks cardio fitness change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8A12A9-3C13-48E2-F959-6AB67DA63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90" y="76198"/>
            <a:ext cx="5466935" cy="3248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BD53B5-A138-21BC-7FDF-FECE36FE6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335" y="76198"/>
            <a:ext cx="5181600" cy="3248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19FD4B-DDE5-2D37-821D-F8F3998B9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90" y="3429001"/>
            <a:ext cx="11038645" cy="33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65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4102E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2E8F0"/>
                </a:solidFill>
              </a:rPr>
              <a:t>ML Intelligence
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TSFresh feature extraction from 127K heart-rate records → Prophet 30-day
forecasting → K-Means &amp; DBSCAN user clustering + PCA/t-SNE visualisation.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886200"/>
            <a:ext cx="45720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4069080"/>
            <a:ext cx="1828800" cy="438912"/>
          </a:xfrm>
          <a:prstGeom prst="rect">
            <a:avLst/>
          </a:prstGeom>
          <a:solidFill>
            <a:srgbClr val="0C0A22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5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8BFA"/>
                </a:solidFill>
              </a:rPr>
              <a:t>⬡  TSFresh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39" y="4069080"/>
            <a:ext cx="1828800" cy="438912"/>
          </a:xfrm>
          <a:prstGeom prst="rect">
            <a:avLst/>
          </a:prstGeom>
          <a:solidFill>
            <a:srgbClr val="0C0A22"/>
          </a:solidFill>
          <a:ln w="635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9125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6AD55"/>
                </a:solidFill>
              </a:rPr>
              <a:t>◉  Prophet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069080"/>
            <a:ext cx="1828800" cy="438912"/>
          </a:xfrm>
          <a:prstGeom prst="rect">
            <a:avLst/>
          </a:prstGeom>
          <a:solidFill>
            <a:srgbClr val="0C0A22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5721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</a:rPr>
              <a:t>🔵  K-Means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4069080"/>
            <a:ext cx="1828800" cy="438912"/>
          </a:xfrm>
          <a:prstGeom prst="rect">
            <a:avLst/>
          </a:prstGeom>
          <a:solidFill>
            <a:srgbClr val="0C0A22"/>
          </a:solidFill>
          <a:ln w="635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2317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8181"/>
                </a:solidFill>
              </a:rPr>
              <a:t>🔴  DBSCAN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069080"/>
            <a:ext cx="1828800" cy="438912"/>
          </a:xfrm>
          <a:prstGeom prst="rect">
            <a:avLst/>
          </a:prstGeom>
          <a:solidFill>
            <a:srgbClr val="0C0A22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913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📉  PCA/t-SNE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371600"/>
            <a:ext cx="457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183A"/>
                </a:solidFill>
              </a:rPr>
              <a:t>M I L E S T O N E   T W 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4736592"/>
            <a:ext cx="1371600" cy="658368"/>
          </a:xfrm>
          <a:prstGeom prst="rect">
            <a:avLst/>
          </a:prstGeom>
          <a:solidFill>
            <a:srgbClr val="0C0A22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31920" y="4736592"/>
            <a:ext cx="1371600" cy="658368"/>
          </a:xfrm>
          <a:prstGeom prst="rect">
            <a:avLst/>
          </a:prstGeom>
          <a:solidFill>
            <a:srgbClr val="0C0A22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40680" y="4736592"/>
            <a:ext cx="1371600" cy="658368"/>
          </a:xfrm>
          <a:prstGeom prst="rect">
            <a:avLst/>
          </a:prstGeom>
          <a:solidFill>
            <a:srgbClr val="0C0A22"/>
          </a:solidFill>
          <a:ln w="63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97280" y="4736592"/>
            <a:ext cx="1371600" cy="658368"/>
          </a:xfrm>
          <a:prstGeom prst="rect">
            <a:avLst/>
          </a:prstGeom>
          <a:solidFill>
            <a:srgbClr val="0C0A22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ML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39" y="4736592"/>
            <a:ext cx="1371600" cy="658368"/>
          </a:xfrm>
          <a:prstGeom prst="rect">
            <a:avLst/>
          </a:prstGeom>
          <a:solidFill>
            <a:srgbClr val="0C0A22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06039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39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User Clusters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4736592"/>
            <a:ext cx="1371600" cy="658368"/>
          </a:xfrm>
          <a:prstGeom prst="rect">
            <a:avLst/>
          </a:prstGeom>
          <a:solidFill>
            <a:srgbClr val="0C0A22"/>
          </a:solidFill>
          <a:ln w="63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0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CC15"/>
                </a:solidFill>
              </a:rPr>
              <a:t>30d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Prophet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CC15"/>
                </a:solidFill>
              </a:rPr>
              <a:t>MILESTONE 2  ·  ML INTELLIGENCE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Feature Extraction &amp; 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4864" cy="46634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0624" y="1417320"/>
            <a:ext cx="5394960" cy="4663440"/>
          </a:xfrm>
          <a:prstGeom prst="rect">
            <a:avLst/>
          </a:prstGeom>
          <a:solidFill>
            <a:srgbClr val="0C1528"/>
          </a:solidFill>
          <a:ln w="9525">
            <a:solidFill>
              <a:srgbClr val="2A2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CC15"/>
                </a:solidFill>
              </a:rPr>
              <a:t>⬡  TSFresh Feature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Automated extraction of statistical time-series
features from 127,404 heart-rate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10 key features extracted per user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Mean, std, variance, skewness, kurtosis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Min, max, range, median, sum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Heatmap: feature matrix across all 35 users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Variance chart identifies discriminating features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Input to downstream K-Means clustering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486400"/>
            <a:ext cx="3657600" cy="457200"/>
          </a:xfrm>
          <a:prstGeom prst="rect">
            <a:avLst/>
          </a:prstGeom>
          <a:solidFill>
            <a:srgbClr val="12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55955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ACC15"/>
                </a:solidFill>
              </a:rPr>
              <a:t>127,404 HR records  ›  10 features  ›  35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4864" cy="4663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18504" y="1417320"/>
            <a:ext cx="5394960" cy="4663440"/>
          </a:xfrm>
          <a:prstGeom prst="rect">
            <a:avLst/>
          </a:prstGeom>
          <a:solidFill>
            <a:srgbClr val="0C1528"/>
          </a:solidFill>
          <a:ln w="9525">
            <a:solidFill>
              <a:srgbClr val="28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2B6"/>
                </a:solidFill>
              </a:rPr>
              <a:t>◉  Prophet Trend 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933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Facebook Prophet model for 30-day ahead
forecasting with 80% confidence intervals.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542032"/>
            <a:ext cx="5120640" cy="731520"/>
          </a:xfrm>
          <a:prstGeom prst="rect">
            <a:avLst/>
          </a:prstGeom>
          <a:solidFill>
            <a:srgbClr val="0C0C1A"/>
          </a:solidFill>
          <a:ln w="63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6151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</a:rPr>
              <a:t>💓  Heart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443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BPM trend with weekly seasonality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410711"/>
            <a:ext cx="5120640" cy="731520"/>
          </a:xfrm>
          <a:prstGeom prst="rect">
            <a:avLst/>
          </a:prstGeom>
          <a:solidFill>
            <a:srgbClr val="0C0C1A"/>
          </a:solidFill>
          <a:ln w="63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483863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CC15"/>
                </a:solidFill>
              </a:rPr>
              <a:t>👟  Total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130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Daily step forecast with CI bands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279392"/>
            <a:ext cx="5120640" cy="731520"/>
          </a:xfrm>
          <a:prstGeom prst="rect">
            <a:avLst/>
          </a:prstGeom>
          <a:solidFill>
            <a:srgbClr val="0C0C1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3525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😴  Sleep Minutes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6817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Sleep duration prediction trends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55955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weekly_seasonality=True  |  30 days horizon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MILESTONE 2  ·  USER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Segmentation &amp; Dimensionality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K-Means &amp; DBSCAN applied to TSFresh features — visualised via PCA &amp; t-SNE projections.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5349240" cy="1828800"/>
          </a:xfrm>
          <a:prstGeom prst="rect">
            <a:avLst/>
          </a:prstGeom>
          <a:solidFill>
            <a:srgbClr val="0C1528"/>
          </a:solidFill>
          <a:ln w="9525">
            <a:solidFill>
              <a:srgbClr val="2A1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📐 Clustering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  ›  TotalSteps   |   Calories   |   VeryActiveMinutes   |   FairlyActiveMinutes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  ›  LightlyActiveMinutes   |   SedentaryMinutes   |   TotalSleepMinutes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22191"/>
            <a:ext cx="2560320" cy="1051560"/>
          </a:xfrm>
          <a:prstGeom prst="rect">
            <a:avLst/>
          </a:prstGeom>
          <a:solidFill>
            <a:srgbClr val="0A081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3886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K-Means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206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Optimal k via elbow method
Standardised feature 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84" y="3822191"/>
            <a:ext cx="2560320" cy="1051560"/>
          </a:xfrm>
          <a:prstGeom prst="rect">
            <a:avLst/>
          </a:prstGeom>
          <a:solidFill>
            <a:srgbClr val="0A081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82112" y="3886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DBSCAN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4206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Density-based clustering
Detects outlier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79008" y="3822191"/>
            <a:ext cx="2560320" cy="1051560"/>
          </a:xfrm>
          <a:prstGeom prst="rect">
            <a:avLst/>
          </a:prstGeom>
          <a:solidFill>
            <a:srgbClr val="0A081A"/>
          </a:solidFill>
          <a:ln w="63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88736" y="3886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4206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2D projection + variance
explained ratio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85632" y="3822191"/>
            <a:ext cx="2560320" cy="1051560"/>
          </a:xfrm>
          <a:prstGeom prst="rect">
            <a:avLst/>
          </a:prstGeom>
          <a:solidFill>
            <a:srgbClr val="0A081A"/>
          </a:solidFill>
          <a:ln w="63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3886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</a:rPr>
              <a:t>t-SNE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206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Non-linear 2D embedding
for visual separation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7830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CLUSTER PROFILES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176272"/>
            <a:ext cx="5943600" cy="841248"/>
          </a:xfrm>
          <a:prstGeom prst="rect">
            <a:avLst/>
          </a:prstGeom>
          <a:solidFill>
            <a:srgbClr val="0A0A1A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89320" y="2176272"/>
            <a:ext cx="54864" cy="841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22311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Cluster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2311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🏃 Active Athletes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256032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High Steps: ~10,000+  |  V.Active: &gt;60 min
Sedentary: &lt;400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127248"/>
            <a:ext cx="5943600" cy="841248"/>
          </a:xfrm>
          <a:prstGeom prst="rect">
            <a:avLst/>
          </a:prstGeom>
          <a:solidFill>
            <a:srgbClr val="0A0A1A"/>
          </a:solidFill>
          <a:ln w="63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89320" y="3127248"/>
            <a:ext cx="54864" cy="841248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44768" y="31821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CC15"/>
                </a:solidFill>
              </a:rPr>
              <a:t>Cluster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182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🚶 Moderate Movers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3511296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Steps: 5,000–9,000  |  Mixed activity
Sedentary: 400–700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4078224"/>
            <a:ext cx="5943600" cy="841248"/>
          </a:xfrm>
          <a:prstGeom prst="rect">
            <a:avLst/>
          </a:prstGeom>
          <a:solidFill>
            <a:srgbClr val="0A0A1A"/>
          </a:solidFill>
          <a:ln w="63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89320" y="4078224"/>
            <a:ext cx="54864" cy="84124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2B6"/>
                </a:solidFill>
              </a:rPr>
              <a:t>Cluster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1330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🛋️ Sedentary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462272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Low Steps: &lt;5,000  |  V.Active: &lt;20 min
Sedentary: &gt;700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5029200"/>
            <a:ext cx="5943600" cy="841248"/>
          </a:xfrm>
          <a:prstGeom prst="rect">
            <a:avLst/>
          </a:prstGeom>
          <a:solidFill>
            <a:srgbClr val="0A0A1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89320" y="5029200"/>
            <a:ext cx="54864" cy="8412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44768" y="50840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Cluster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084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😴 Sleep-focused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541324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High Sleep: &gt;450 min  |  Moderate steps
Low intensity workouts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A0DFB3-552E-542E-E313-66DDF8151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07" y="188891"/>
            <a:ext cx="5728792" cy="3240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46113A-0CD5-D851-AF57-9DABC397B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8891"/>
            <a:ext cx="5728792" cy="3240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A91B2B-F67B-0813-D8EC-FF396F1BE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07" y="3513082"/>
            <a:ext cx="11614585" cy="324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05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280C10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8181"/>
                </a:solidFill>
              </a:rP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2E8F0"/>
                </a:solidFill>
              </a:rPr>
              <a:t>Anomaly
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3-method pipeline: Threshold violations + Rolling-median residual detection
+ DBSCAN user outlier clustering · 90%+ accuracy validated on real Fitbit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886200"/>
            <a:ext cx="4572000" cy="36576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4069080"/>
            <a:ext cx="1828800" cy="438912"/>
          </a:xfrm>
          <a:prstGeom prst="rect">
            <a:avLst/>
          </a:prstGeom>
          <a:solidFill>
            <a:srgbClr val="14060E"/>
          </a:solidFill>
          <a:ln w="635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5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8181"/>
                </a:solidFill>
              </a:rPr>
              <a:t>① 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39" y="4069080"/>
            <a:ext cx="1828800" cy="438912"/>
          </a:xfrm>
          <a:prstGeom prst="rect">
            <a:avLst/>
          </a:prstGeom>
          <a:solidFill>
            <a:srgbClr val="14060E"/>
          </a:solidFill>
          <a:ln w="63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9125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</a:rPr>
              <a:t>②  Residual ±σ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069080"/>
            <a:ext cx="1828800" cy="438912"/>
          </a:xfrm>
          <a:prstGeom prst="rect">
            <a:avLst/>
          </a:prstGeom>
          <a:solidFill>
            <a:srgbClr val="14060E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5721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8BFA"/>
                </a:solidFill>
              </a:rPr>
              <a:t>③  DBSCAN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4069080"/>
            <a:ext cx="1828800" cy="438912"/>
          </a:xfrm>
          <a:prstGeom prst="rect">
            <a:avLst/>
          </a:prstGeom>
          <a:solidFill>
            <a:srgbClr val="14060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2317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📈  5 Plotly Charts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069080"/>
            <a:ext cx="1828800" cy="438912"/>
          </a:xfrm>
          <a:prstGeom prst="rect">
            <a:avLst/>
          </a:prstGeom>
          <a:solidFill>
            <a:srgbClr val="14060E"/>
          </a:solidFill>
          <a:ln w="63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9136" y="414223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🎯  90%+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371600"/>
            <a:ext cx="457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81014"/>
                </a:solidFill>
              </a:rPr>
              <a:t>M I L E S T O N E   T H R E 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736592"/>
            <a:ext cx="1371600" cy="658368"/>
          </a:xfrm>
          <a:prstGeom prst="rect">
            <a:avLst/>
          </a:prstGeom>
          <a:solidFill>
            <a:srgbClr val="14060E"/>
          </a:solidFill>
          <a:ln w="635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C818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Methods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4736592"/>
            <a:ext cx="1371600" cy="658368"/>
          </a:xfrm>
          <a:prstGeom prst="rect">
            <a:avLst/>
          </a:prstGeom>
          <a:solidFill>
            <a:srgbClr val="14060E"/>
          </a:solidFill>
          <a:ln w="63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06039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72B6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39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Plotly Charts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736592"/>
            <a:ext cx="1371600" cy="658368"/>
          </a:xfrm>
          <a:prstGeom prst="rect">
            <a:avLst/>
          </a:prstGeom>
          <a:solidFill>
            <a:srgbClr val="14060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4800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4D399"/>
                </a:solidFill>
              </a:rPr>
              <a:t>90%+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C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07024" y="274320"/>
            <a:ext cx="36576" cy="630936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3017520" cy="329184"/>
          </a:xfrm>
          <a:prstGeom prst="rect">
            <a:avLst/>
          </a:prstGeom>
          <a:solidFill>
            <a:srgbClr val="220810"/>
          </a:solidFill>
          <a:ln w="635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C8181"/>
                </a:solidFill>
              </a:rPr>
              <a:t>🚨  MILESTONE 3 ·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E2E8F0"/>
                </a:solidFill>
              </a:rPr>
              <a:t>FitPulse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C8181"/>
                </a:solidFill>
              </a:rPr>
              <a:t>Anomaly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687B3"/>
                </a:solidFill>
              </a:rPr>
              <a:t>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3-Method pipeline · Threshold + Residual + DBSCAN
90%+ detection accuracy validated on real Fitbit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92040"/>
            <a:ext cx="1444752" cy="347472"/>
          </a:xfrm>
          <a:prstGeom prst="rect">
            <a:avLst/>
          </a:prstGeom>
          <a:solidFill>
            <a:srgbClr val="140610"/>
          </a:solidFill>
          <a:ln w="635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919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C8181"/>
                </a:solidFill>
              </a:rPr>
              <a:t>❤️ HR Anomalies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21408" y="4892040"/>
            <a:ext cx="1444752" cy="347472"/>
          </a:xfrm>
          <a:prstGeom prst="rect">
            <a:avLst/>
          </a:prstGeom>
          <a:solidFill>
            <a:srgbClr val="140610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12848" y="4919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</a:rPr>
              <a:t>💤 Sleep 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94176" y="4892040"/>
            <a:ext cx="1444752" cy="347472"/>
          </a:xfrm>
          <a:prstGeom prst="rect">
            <a:avLst/>
          </a:prstGeom>
          <a:solidFill>
            <a:srgbClr val="140610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85615" y="4919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</a:rPr>
              <a:t>🔍 DBSCAN Outliers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943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C8181"/>
                </a:solidFill>
              </a:rPr>
              <a:t>MILESTONE 3 · DETECTION AT A GLANCE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078992"/>
            <a:ext cx="54864" cy="123444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54496" y="1078992"/>
            <a:ext cx="5413248" cy="1234440"/>
          </a:xfrm>
          <a:prstGeom prst="rect">
            <a:avLst/>
          </a:prstGeom>
          <a:solidFill>
            <a:srgbClr val="0A1228"/>
          </a:solidFill>
          <a:ln w="6350">
            <a:solidFill>
              <a:srgbClr val="351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115214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C8181"/>
                </a:solidFill>
              </a:rPr>
              <a:t>DETECTION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3716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3-Method Anomaly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1691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Threshold violations (HR/Steps/Sleep) + rolling-median residual ±σ detection + DBSCAN outlier clustering.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487168"/>
            <a:ext cx="54864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54496" y="2487168"/>
            <a:ext cx="5413248" cy="1234440"/>
          </a:xfrm>
          <a:prstGeom prst="rect">
            <a:avLst/>
          </a:prstGeom>
          <a:solidFill>
            <a:srgbClr val="0A1228"/>
          </a:solidFill>
          <a:ln w="6350">
            <a:solidFill>
              <a:srgbClr val="0A2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ACCURACY SIMULATION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7797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90%+ Detection Rate Achieved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09981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10 injected anomalies per signal. HR, Steps &amp; Sleep all validated above the 90% accuracy target.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38587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DETECTION AT A GLANCE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160520"/>
            <a:ext cx="1408176" cy="713232"/>
          </a:xfrm>
          <a:prstGeom prst="rect">
            <a:avLst/>
          </a:prstGeom>
          <a:solidFill>
            <a:srgbClr val="0A1022"/>
          </a:solidFill>
          <a:ln w="6350">
            <a:solidFill>
              <a:srgbClr val="22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99632" y="4160520"/>
            <a:ext cx="1408176" cy="4572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425196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C8181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63600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Methods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4160520"/>
            <a:ext cx="1408176" cy="713232"/>
          </a:xfrm>
          <a:prstGeom prst="rect">
            <a:avLst/>
          </a:prstGeom>
          <a:solidFill>
            <a:srgbClr val="0A1022"/>
          </a:solidFill>
          <a:ln w="6350">
            <a:solidFill>
              <a:srgbClr val="22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680960" y="4160520"/>
            <a:ext cx="1408176" cy="4572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0" y="425196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C8181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63600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Plotly Charts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62288" y="4160520"/>
            <a:ext cx="1408176" cy="713232"/>
          </a:xfrm>
          <a:prstGeom prst="rect">
            <a:avLst/>
          </a:prstGeom>
          <a:solidFill>
            <a:srgbClr val="0A1022"/>
          </a:solidFill>
          <a:ln w="6350">
            <a:solidFill>
              <a:srgbClr val="22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62288" y="4160520"/>
            <a:ext cx="1408176" cy="4572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53728" y="425196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C8181"/>
                </a:solidFill>
              </a:rPr>
              <a:t>90%+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463600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43616" y="4160520"/>
            <a:ext cx="1408176" cy="713232"/>
          </a:xfrm>
          <a:prstGeom prst="rect">
            <a:avLst/>
          </a:prstGeom>
          <a:solidFill>
            <a:srgbClr val="0A1022"/>
          </a:solidFill>
          <a:ln w="6350">
            <a:solidFill>
              <a:srgbClr val="22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643616" y="4160520"/>
            <a:ext cx="1408176" cy="4572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735056" y="425196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C8181"/>
                </a:solidFill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35056" y="463600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Fitbit Users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6583680"/>
            <a:ext cx="121916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83E"/>
                </a:solidFill>
              </a:rPr>
              <a:t>FitPulse Analytics  ·  v1.0  ·  Built with Streamlit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C8181"/>
                </a:solidFill>
              </a:rPr>
              <a:t>MILESTONE 3  ·  DETECTION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3-Method Anomaly Detection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4358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Every signal is screened by three complementary methods — threshold rules, statistical residuals, and density-based clustering.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1E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703320" cy="54864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975104"/>
            <a:ext cx="3703320" cy="4526280"/>
          </a:xfrm>
          <a:prstGeom prst="rect">
            <a:avLst/>
          </a:prstGeom>
          <a:solidFill>
            <a:srgbClr val="0C1528"/>
          </a:solidFill>
          <a:ln w="7620"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2103120"/>
            <a:ext cx="475488" cy="475488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2121408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0814"/>
                </a:solidFill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3055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Threshold Violations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651760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Hard upper/lower domain limits applied directly to each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4553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HR &gt; 100 bpm  →  flag high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HR &lt; 50 bpm   →  flag low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Steps &lt; 500   →  flag low activity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Sleep &lt; 60 min →  flag insufficient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Sleep &gt; 600 min →  flag excessive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065776"/>
            <a:ext cx="3383280" cy="621792"/>
          </a:xfrm>
          <a:prstGeom prst="rect">
            <a:avLst/>
          </a:prstGeom>
          <a:solidFill>
            <a:srgbClr val="061020"/>
          </a:solidFill>
          <a:ln w="508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" y="5138928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C8181"/>
                </a:solidFill>
              </a:rPr>
              <a:t>💡 Fast, interpretable, clinical threshold-based detection.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920240"/>
            <a:ext cx="37033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9392" y="1975104"/>
            <a:ext cx="3703320" cy="4526280"/>
          </a:xfrm>
          <a:prstGeom prst="rect">
            <a:avLst/>
          </a:prstGeom>
          <a:solidFill>
            <a:srgbClr val="0C1528"/>
          </a:solidFill>
          <a:ln w="7620"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43984" y="2103120"/>
            <a:ext cx="475488" cy="4754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43984" y="2121408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0814"/>
                </a:solidFill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13055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Residual-Based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651760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Rolling 3-day median acts as expected baseline. Days deviating by ±σ are flagged.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314553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Compute rolling median (window=3, centered)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Calculate residual = actual − expected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Residual std σ computed per signal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Flag days where |residual| &gt; σ × threshold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Applied to HR, Steps &amp; Sleep signals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5065776"/>
            <a:ext cx="3383280" cy="621792"/>
          </a:xfrm>
          <a:prstGeom prst="rect">
            <a:avLst/>
          </a:prstGeom>
          <a:solidFill>
            <a:srgbClr val="061020"/>
          </a:solidFill>
          <a:ln w="50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7136" y="5138928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2B6"/>
                </a:solidFill>
              </a:rPr>
              <a:t>💡 Catches gradual drift and sudden spikes missed by fixed thresholds.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1920240"/>
            <a:ext cx="37033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93024" y="1975104"/>
            <a:ext cx="3703320" cy="4526280"/>
          </a:xfrm>
          <a:prstGeom prst="rect">
            <a:avLst/>
          </a:prstGeom>
          <a:solidFill>
            <a:srgbClr val="0C1528"/>
          </a:solidFill>
          <a:ln w="7620"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57616" y="2103120"/>
            <a:ext cx="475488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57616" y="2121408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0814"/>
                </a:solidFill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4" y="213055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DBSCAN Outlier Clustering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2651760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User-level structural anomalies — users whose entire behaviour pattern doesn't fit any cluster.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14553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Feature matrix: 7 activity columns per user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StandardScaler normalisation applied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DBSCAN(eps=2.2, min_samples=2) fit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Users labelled −1 = structural outliers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  •  PCA 2D projection for visualisation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57616" y="5065776"/>
            <a:ext cx="3383280" cy="621792"/>
          </a:xfrm>
          <a:prstGeom prst="rect">
            <a:avLst/>
          </a:prstGeom>
          <a:solidFill>
            <a:srgbClr val="061020"/>
          </a:solidFill>
          <a:ln w="50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30768" y="5138928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</a:rPr>
              <a:t>💡 Identifies users with atypical overall fitness behaviour.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2B6"/>
                </a:solidFill>
              </a:rPr>
              <a:t>MILESTONE 3  ·  PLOTLY VISUALISATIONS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5 Interactive Anomaly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4358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All charts built with Plotly — interactive, annotated, and styled with the FitPulse dark theme.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1E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721608" cy="4572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3721608" cy="2578608"/>
          </a:xfrm>
          <a:prstGeom prst="rect">
            <a:avLst/>
          </a:prstGeom>
          <a:solidFill>
            <a:srgbClr val="0C1528"/>
          </a:solidFill>
          <a:ln w="6350"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0482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C8181"/>
                </a:solidFill>
              </a:rPr>
              <a:t>❤️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6654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Chart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942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Heart Rate Anomaly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606040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Time-series of daily avg HR with ±σ expected band shaded. Red markers highlight anomaly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63824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Main HR line + rolling median overlay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419856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±σ residual confidence band shaded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75887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High/low dashed threshold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931920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Per-point annotations with reason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920240"/>
            <a:ext cx="3721608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9392" y="1965960"/>
            <a:ext cx="3721608" cy="2578608"/>
          </a:xfrm>
          <a:prstGeom prst="rect">
            <a:avLst/>
          </a:prstGeom>
          <a:solidFill>
            <a:srgbClr val="0C1528"/>
          </a:solidFill>
          <a:ln w="6350"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43984" y="20482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8BFA"/>
                </a:solidFill>
              </a:rPr>
              <a:t>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206654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Chart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224942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Sleep Pattern Visualisation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606040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Dual-subplot: sleep duration + healthy zone band on top; residual bar chart below.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163824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Green healthy-sleep zone (60–600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419856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Purple anomaly diamond markers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675887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Per-anomaly reason annotations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31920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Residual bars (red = anomaly, blue = normal)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3024" y="1920240"/>
            <a:ext cx="3721608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93024" y="1965960"/>
            <a:ext cx="3721608" cy="2578608"/>
          </a:xfrm>
          <a:prstGeom prst="rect">
            <a:avLst/>
          </a:prstGeom>
          <a:solidFill>
            <a:srgbClr val="0C1528"/>
          </a:solidFill>
          <a:ln w="6350"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7616" y="20482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4D399"/>
                </a:solidFill>
              </a:rPr>
              <a:t>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206654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Chart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3104" y="224942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Step Count Trend + 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2606040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Red vertical alert bands for anomaly days. Trend line + residual bars in subplot below.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3163824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Red vrect shading on alert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419856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Rolling median trend dashed overlay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675887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Triangle markers for anomaly 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931920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›  Residual bar subplot with zero baseline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84248" y="4663440"/>
            <a:ext cx="3721608" cy="45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984248" y="4709160"/>
            <a:ext cx="3721608" cy="1920240"/>
          </a:xfrm>
          <a:prstGeom prst="rect">
            <a:avLst/>
          </a:prstGeom>
          <a:solidFill>
            <a:srgbClr val="0C1528"/>
          </a:solidFill>
          <a:ln w="6350"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48840" y="47823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CC15"/>
                </a:solidFill>
              </a:rPr>
              <a:t>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24328" y="479145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Chart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4328" y="49743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DBSCAN PCA Scatter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5303520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PCA 2-component projection of all users. Outlier users shown as large red ✕ markers.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85416" y="57424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›  Colour-coded normal cluster groups  ·  Red ✕ markers for DBSCAN label=−1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4663440"/>
            <a:ext cx="3721608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37960" y="4709160"/>
            <a:ext cx="3721608" cy="1920240"/>
          </a:xfrm>
          <a:prstGeom prst="rect">
            <a:avLst/>
          </a:prstGeom>
          <a:solidFill>
            <a:srgbClr val="0C1528"/>
          </a:solidFill>
          <a:ln w="6350"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02552" y="47823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8BDF8"/>
                </a:solidFill>
              </a:rPr>
              <a:t>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479145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Chart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49743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Accuracy Bar Chart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2552" y="5303520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Detection accuracy per signal with 90% dashed target line.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39128" y="57424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›  Green bars = PASS (≥90%), Red = below  ·  Per-bar percentage labels outside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MILESTONE 3  ·  ACCURACY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</a:rPr>
              <a:t>Simulated Detection Accuracy — 90%+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4358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10 known anomalies injected per signal. Detector run on modified data. Detection rate measured.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1E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901952"/>
            <a:ext cx="54864" cy="42793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624" y="1901952"/>
            <a:ext cx="5486400" cy="4279392"/>
          </a:xfrm>
          <a:prstGeom prst="rect">
            <a:avLst/>
          </a:prstGeom>
          <a:solidFill>
            <a:srgbClr val="0C1528"/>
          </a:solidFill>
          <a:ln w="6350">
            <a:solidFill>
              <a:srgbClr val="0A2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933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🔬 SIMULATION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</a:rPr>
              <a:t>① Load master DataFrame (real Fitbit data, 30 users, 31 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15768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② Set random seed = 42 for reproducibility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5409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③ Select 10 random days per signal (HR / Steps / Sleep)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92424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④ Inject extreme anomalous values at chosen positions: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30752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</a:rPr>
              <a:t>    HR: inject 115–130 bpm (high) or 35–45 bpm (low)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6908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</a:rPr>
              <a:t>    Steps: inject 50–200 (low) or 28,000–35,000 (high)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07408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</a:rPr>
              <a:t>    Sleep: inject 10–30 min (low) or 700–800 min (high)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4573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⑤ Run detection pipeline on injected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084064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⑥ Count how many injected anomalies were flagged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22392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⑦ Accuracy = detected / 10 × 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6072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</a:rPr>
              <a:t>⑧ Repeat for all 3 signals → compute Overall average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01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VALIDATION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67712"/>
            <a:ext cx="5349240" cy="914400"/>
          </a:xfrm>
          <a:prstGeom prst="rect">
            <a:avLst/>
          </a:prstGeom>
          <a:solidFill>
            <a:srgbClr val="081422"/>
          </a:solidFill>
          <a:ln w="6350">
            <a:solidFill>
              <a:srgbClr val="0A2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2267712"/>
            <a:ext cx="54864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23591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❤️ Heart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6517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90%+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517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9/10 detected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73552"/>
            <a:ext cx="5349240" cy="914400"/>
          </a:xfrm>
          <a:prstGeom prst="rect">
            <a:avLst/>
          </a:prstGeom>
          <a:solidFill>
            <a:srgbClr val="081422"/>
          </a:solidFill>
          <a:ln w="6350">
            <a:solidFill>
              <a:srgbClr val="0A2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3273552"/>
            <a:ext cx="54864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364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👟 Total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3657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90%+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57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9/10 detected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79392"/>
            <a:ext cx="5349240" cy="914400"/>
          </a:xfrm>
          <a:prstGeom prst="rect">
            <a:avLst/>
          </a:prstGeom>
          <a:solidFill>
            <a:srgbClr val="081422"/>
          </a:solidFill>
          <a:ln w="6350">
            <a:solidFill>
              <a:srgbClr val="0A2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4279392"/>
            <a:ext cx="54864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437083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😴 Sleep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6634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90%+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663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9/10 detected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285232"/>
            <a:ext cx="5349240" cy="804672"/>
          </a:xfrm>
          <a:prstGeom prst="rect">
            <a:avLst/>
          </a:prstGeom>
          <a:solidFill>
            <a:srgbClr val="061810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65392" y="53583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✅  OVERALL ACCURACY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561441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90%+  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5687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Meets project requirement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965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UI / UX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Dashboard Design &amp;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78892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8BDF8"/>
                </a:solidFill>
              </a:rPr>
              <a:t>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Dark-Theme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75688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Rich navy gradient background with glassmorphism cards, accent glow effects, and smooth hover animations.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508760"/>
            <a:ext cx="278892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65576" y="16184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8BFA"/>
                </a:solidFill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7056" y="167335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Responsive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075688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Streamlit wide layout with mobile media queries. Sidebar navigation + compact mode toggle.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508760"/>
            <a:ext cx="278892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6184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4D399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67335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Step Indicator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075688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3-step progress bar (Overview → Preprocessing → EDA) with animated active/done states.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53728" y="1508760"/>
            <a:ext cx="278892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90888" y="16184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CC15"/>
                </a:solidFill>
              </a:rPr>
              <a:t>ℹ️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167335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Hover Tooltips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075688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Per-chart ⓘ tooltip showing Objective + What to Look For — powered by custom HTML/CSS.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05072"/>
            <a:ext cx="278892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72B6"/>
                </a:solidFill>
              </a:rPr>
              <a:t>⬇️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9663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Export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Download cleaned CSV, correlation heatmap PNG, and heart-rate chart PNG directly from UI.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28416" y="4005072"/>
            <a:ext cx="278892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65576" y="4114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8BDF8"/>
                </a:solidFill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77056" y="4169663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Session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457200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Streamlit session_state preserves cleaned data and EDA results across page navigations.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4005072"/>
            <a:ext cx="278892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4114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8BFA"/>
                </a:solidFill>
              </a:rP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69663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Workout Filter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7200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Live multiselect + workout type filter applies globally across ALL EDA charts.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53728" y="4005072"/>
            <a:ext cx="2788920" cy="2148840"/>
          </a:xfrm>
          <a:prstGeom prst="rect">
            <a:avLst/>
          </a:prstGeom>
          <a:solidFill>
            <a:srgbClr val="0C1528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90888" y="4114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4D399"/>
                </a:solidFill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4169663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Auto-Insights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457200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Key Insights panel auto-computes top correlation pair, dominant workout type &amp; avg HR.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DATASET &amp;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Data Summary &amp;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44752"/>
            <a:ext cx="1810512" cy="1280160"/>
          </a:xfrm>
          <a:prstGeom prst="rect">
            <a:avLst/>
          </a:prstGeom>
          <a:solidFill>
            <a:srgbClr val="081022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44752"/>
            <a:ext cx="181051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57276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BDF8"/>
                </a:solidFill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76272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Fitbit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444752"/>
            <a:ext cx="1810512" cy="1280160"/>
          </a:xfrm>
          <a:prstGeom prst="rect">
            <a:avLst/>
          </a:prstGeom>
          <a:solidFill>
            <a:srgbClr val="081022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58568" y="1444752"/>
            <a:ext cx="181051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157276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78BFA"/>
                </a:solidFill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176272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Days Tracked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7096" y="1444752"/>
            <a:ext cx="1810512" cy="1280160"/>
          </a:xfrm>
          <a:prstGeom prst="rect">
            <a:avLst/>
          </a:prstGeom>
          <a:solidFill>
            <a:srgbClr val="081022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97096" y="1444752"/>
            <a:ext cx="181051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8536" y="157276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4D399"/>
                </a:solidFill>
              </a:rPr>
              <a:t>127K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176272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HR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1444752"/>
            <a:ext cx="1810512" cy="1280160"/>
          </a:xfrm>
          <a:prstGeom prst="rect">
            <a:avLst/>
          </a:prstGeom>
          <a:solidFill>
            <a:srgbClr val="081022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35624" y="1444752"/>
            <a:ext cx="181051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27064" y="157276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ACC15"/>
                </a:solidFill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176272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ML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1444752"/>
            <a:ext cx="1810512" cy="1280160"/>
          </a:xfrm>
          <a:prstGeom prst="rect">
            <a:avLst/>
          </a:prstGeom>
          <a:solidFill>
            <a:srgbClr val="081022"/>
          </a:solidFill>
          <a:ln w="1016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74152" y="1444752"/>
            <a:ext cx="1810512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5592" y="157276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472B6"/>
                </a:solidFill>
              </a:rPr>
              <a:t>30d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176272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Prophet Horizon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1444752"/>
            <a:ext cx="1810512" cy="1280160"/>
          </a:xfrm>
          <a:prstGeom prst="rect">
            <a:avLst/>
          </a:prstGeom>
          <a:solidFill>
            <a:srgbClr val="081022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012680" y="1444752"/>
            <a:ext cx="181051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04119" y="157276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19" y="2176272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User Clusters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992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FEATURES TRACKED PER 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383280"/>
            <a:ext cx="1737360" cy="384048"/>
          </a:xfrm>
          <a:prstGeom prst="rect">
            <a:avLst/>
          </a:prstGeom>
          <a:solidFill>
            <a:srgbClr val="0A1224"/>
          </a:solidFill>
          <a:ln w="508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45643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📍 Steps Taken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0280" y="3383280"/>
            <a:ext cx="1737360" cy="384048"/>
          </a:xfrm>
          <a:prstGeom prst="rect">
            <a:avLst/>
          </a:prstGeom>
          <a:solidFill>
            <a:srgbClr val="0A1224"/>
          </a:solidFill>
          <a:ln w="508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50008" y="345643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🔥 Calories Burned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383280"/>
            <a:ext cx="1737360" cy="384048"/>
          </a:xfrm>
          <a:prstGeom prst="rect">
            <a:avLst/>
          </a:prstGeom>
          <a:solidFill>
            <a:srgbClr val="0A1224"/>
          </a:solidFill>
          <a:ln w="508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24528" y="345643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💤 Hours Slept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931920"/>
            <a:ext cx="1737360" cy="384048"/>
          </a:xfrm>
          <a:prstGeom prst="rect">
            <a:avLst/>
          </a:prstGeom>
          <a:solidFill>
            <a:srgbClr val="0A1224"/>
          </a:solidFill>
          <a:ln w="508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" y="400507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⚡ Active Minutes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3931920"/>
            <a:ext cx="1737360" cy="384048"/>
          </a:xfrm>
          <a:prstGeom prst="rect">
            <a:avLst/>
          </a:prstGeom>
          <a:solidFill>
            <a:srgbClr val="0A1224"/>
          </a:solidFill>
          <a:ln w="508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50008" y="400507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❤️ Heart Rate (bpm)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931920"/>
            <a:ext cx="1737360" cy="384048"/>
          </a:xfrm>
          <a:prstGeom prst="rect">
            <a:avLst/>
          </a:prstGeom>
          <a:solidFill>
            <a:srgbClr val="0A1224"/>
          </a:solidFill>
          <a:ln w="508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24528" y="400507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😰 Stress Level (1–10)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1737360" cy="384048"/>
          </a:xfrm>
          <a:prstGeom prst="rect">
            <a:avLst/>
          </a:prstGeom>
          <a:solidFill>
            <a:srgbClr val="0A1224"/>
          </a:solidFill>
          <a:ln w="508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455371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🏋️ Workout Type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40280" y="4480560"/>
            <a:ext cx="1737360" cy="384048"/>
          </a:xfrm>
          <a:prstGeom prst="rect">
            <a:avLst/>
          </a:prstGeom>
          <a:solidFill>
            <a:srgbClr val="0A1224"/>
          </a:solidFill>
          <a:ln w="508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50008" y="455371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💧 Water Intake (L)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4480560"/>
            <a:ext cx="1737360" cy="384048"/>
          </a:xfrm>
          <a:prstGeom prst="rect">
            <a:avLst/>
          </a:prstGeom>
          <a:solidFill>
            <a:srgbClr val="0A1224"/>
          </a:solidFill>
          <a:ln w="5080">
            <a:solidFill>
              <a:srgbClr val="1E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24528" y="455371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E2E8F0"/>
                </a:solidFill>
              </a:rPr>
              <a:t>📅 Date (time-series)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9992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PIPELINE OUTCOMES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33649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✓  Preprocessing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33649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</a:rPr>
              <a:t>0 nulls remaining after clean pipeline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3657600"/>
            <a:ext cx="6126480" cy="9144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0" y="3840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✓  EDA Complete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38404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6 chart sections with auto-insights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7880" y="4133088"/>
            <a:ext cx="6126480" cy="9144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0" y="43159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CC15"/>
                </a:solidFill>
              </a:rPr>
              <a:t>✓  TSFresh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43159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10 features × 35 users extracted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97880" y="4608576"/>
            <a:ext cx="6126480" cy="9144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43600" y="47914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</a:rPr>
              <a:t>✓  Prophet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479145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HR, Steps &amp; Sleep 30-day forecasts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7880" y="5084064"/>
            <a:ext cx="6126480" cy="9144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0" y="52669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✓  Clustering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526694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4 user segments identified via K-Means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97880" y="5559552"/>
            <a:ext cx="6126480" cy="9144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0" y="5742431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34D399"/>
                </a:solidFill>
              </a:rPr>
              <a:t>✓  Exportable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5742431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</a:rPr>
              <a:t>Clean CSV + charts downloadable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97880" y="6035040"/>
            <a:ext cx="6126480" cy="9144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897880" y="6035040"/>
            <a:ext cx="6126480" cy="9144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943600" y="608990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C8181"/>
                </a:solidFill>
              </a:rPr>
              <a:t>✓  Anomaly Detection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60" y="608990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3-method pipeline · 90%+ accuracy achieved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0" y="6400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SUMMARY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24128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2E8F0"/>
                </a:solidFill>
              </a:rPr>
              <a:t>FitPulse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385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From raw Fitbit CSV to clustered user segments — from preprocessing to anomaly detection.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468880"/>
            <a:ext cx="5760720" cy="18288"/>
          </a:xfrm>
          <a:prstGeom prst="rect">
            <a:avLst/>
          </a:prstGeom>
          <a:solidFill>
            <a:srgbClr val="1E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614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90672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Multi-page Streamlit dashboard (Milestone 1 + 2)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User-wise preprocessing pipeline with quality report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6-section interactive EDA with hover tooltips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TSFresh time-series feature extraction pipeline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Prophet forecasting — 3 metrics, 30-day horizon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K-Means + DBSCAN clustering + PCA/t-SNE views</a:t>
            </a:r>
          </a:p>
          <a:p>
            <a:r>
              <a:rPr lang="en-US" sz="1100" b="1" dirty="0">
                <a:solidFill>
                  <a:srgbClr val="FC8181"/>
                </a:solidFill>
                <a:latin typeface="+mj-lt"/>
              </a:rPr>
              <a:t>  •  Milestone 3 — 3-method anomaly detection (90%+ accuracy)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614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90672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Real-time Fitbit API integration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Personalised training plan recommendations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Anomaly detection for health monitoring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Multi-device &amp; wearable support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NLP chatbot for fitness goal queries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2E8F0"/>
                </a:solidFill>
              </a:rPr>
              <a:t>  •  Cloud deployment (Streamlit Community Cloud)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FitPulse Analytics  ·  Milestone 1, 2 &amp; 3  ·  Streamlit + Pandas + Scikit-learn + Prophet + TSFresh + Plotly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2445</Words>
  <Application>Microsoft Office PowerPoint</Application>
  <PresentationFormat>Widescreen</PresentationFormat>
  <Paragraphs>446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Ganesh Mandapaka</cp:lastModifiedBy>
  <cp:revision>2</cp:revision>
  <dcterms:created xsi:type="dcterms:W3CDTF">2013-01-27T09:14:16Z</dcterms:created>
  <dcterms:modified xsi:type="dcterms:W3CDTF">2026-03-27T17:07:41Z</dcterms:modified>
  <cp:category/>
</cp:coreProperties>
</file>